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70" r:id="rId12"/>
    <p:sldId id="271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56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DE99-316F-CE56-7766-8CE72574B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69419-835C-BE52-320D-CBD086FE9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A2E80-FBFF-C7BF-35C8-D7DA5A90F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1679B-E74B-0C75-E302-CC7EE2BAB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06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C7D75-CB09-4779-B96B-BF404A70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67ED-5A01-C4AE-41F3-5248BDB8A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EF577-0BF3-19F0-2E15-854411B96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CEFDC-B0F2-C013-D710-392A89039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49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CF34-84C0-AB9A-E7ED-2B730C89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D7320-0F08-11A2-6CBE-98A485F1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A7E72-3F32-07F8-D9D4-B959A19F8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EC537-BE01-F507-384F-28A6DBC64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92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548640"/>
            <a:ext cx="1828800" cy="18288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822960"/>
            <a:ext cx="1216152" cy="1216152"/>
          </a:xfrm>
          <a:prstGeom prst="roundRect">
            <a:avLst>
              <a:gd name="adj" fmla="val 15038"/>
            </a:avLst>
          </a:prstGeom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0" y="868680"/>
            <a:ext cx="1216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🏙️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CLUJ AI BUILDATHON 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1F5F9"/>
                </a:solidFill>
                <a:effectLst>
                  <a:glow rad="254000">
                    <a:srgbClr val="60A5FA">
                      <a:alpha val="40000"/>
                    </a:srgbClr>
                  </a:glow>
                </a:effectLst>
              </a:rPr>
              <a:t>Cluj Civic AI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AI-powered urban infrastructure reporting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for a smarter Cluj-Napoca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4251960"/>
            <a:ext cx="2340864" cy="320040"/>
          </a:xfrm>
          <a:prstGeom prst="roundRect">
            <a:avLst>
              <a:gd name="adj" fmla="val 4857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427939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Claude Vision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425196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18304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</a:rPr>
              <a:t>Next.js 15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38544" y="425196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38544" y="42793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58784" y="4251960"/>
            <a:ext cx="2139696" cy="320040"/>
          </a:xfrm>
          <a:prstGeom prst="roundRect">
            <a:avLst>
              <a:gd name="adj" fmla="val 48571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58784" y="427939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</a:rPr>
              <a:t>Real-time Maps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4" y="4740887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451A03"/>
          </a:solidFill>
          <a:ln w="12700">
            <a:solidFill>
              <a:srgbClr val="451A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84064" y="47640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D34D"/>
                </a:solidFill>
              </a:rPr>
              <a:t>Citizen &amp; Gov Panels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1658" y="5193080"/>
            <a:ext cx="4873752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5229814"/>
            <a:ext cx="4873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Built at Cluj AI Buildathon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</a:rPr>
              <a:t>Urban infrastructure issues go unreported &amp; unresolved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Citizens encounter daily problems — but reporting is slow, fragmented, and produces no visible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No easy channel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529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Hotlines, social posts — no systematic follow-up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0248" y="192024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70248" y="2084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07408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Manual categorisation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7408" y="28529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Every report triaged by hand — delays &amp; misrouting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92024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83296" y="2084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0456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No location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0456" y="28529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Problems lack GPS context for dispatch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🔇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4142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Zero transparency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453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Citizens never know if their report was acted 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70248" y="352044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70248" y="3685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07408" y="4142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No data for city hall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07408" y="4453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Authorities can't plan maintenance budgets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83296" y="352044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83296" y="3685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0456" y="4142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Critical issues missed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0456" y="4453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Hazards stay unresolved for weeks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</a:rPr>
              <a:t>One app.  AI at the core.  City-wide impact.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Cluj Civic AI connects citizens to local government through an intelligent, photo-first reporting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7455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48640" cy="548640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0299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📸 Snap a photo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957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Citizen photographs a problem — pothole, broken light, water leak — with their phone.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127455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0815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🤖 Claude Vision analyses instantly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447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AI classifies issue type, severity (LOW→CRITICAL), and writes a human-readable summary in seconds.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7455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4206240"/>
            <a:ext cx="548640" cy="548640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133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🗺️ GPS-pinned &amp; submitted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4988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The report is geo-tagged and routed to government officers with full context already attached.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7455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5303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184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✅ Track resolution in real 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550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Citizens follow status updates; officers log actions; the city gets aggregate analytics.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THE PLATFORM — LANDING 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A clean, modern citizen-facing homepage</a:t>
            </a:r>
            <a:endParaRPr lang="en-US" sz="2600" dirty="0"/>
          </a:p>
        </p:txBody>
      </p:sp>
      <p:pic>
        <p:nvPicPr>
          <p:cNvPr id="4" name="Image 0" descr="C:\Users\mdimr\Desktop\Cluj ai devepolement\cluj-civic-ai\presentation\screenshots\land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257" y="1335736"/>
            <a:ext cx="10632295" cy="4973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463040"/>
            <a:ext cx="10360152" cy="4846320"/>
          </a:xfrm>
          <a:prstGeom prst="roundRect">
            <a:avLst>
              <a:gd name="adj" fmla="val 2264"/>
            </a:avLst>
          </a:prstGeom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35E06-C3CD-2B3C-DF11-818F049C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25B21E-77A3-B2E5-EF91-71AD56AA71DF}"/>
              </a:ext>
            </a:extLst>
          </p:cNvPr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THE PLATFORM — LANDING PAGE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326C0E-03EC-5176-6FBD-7E48C7445A36}"/>
              </a:ext>
            </a:extLst>
          </p:cNvPr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Log in Page</a:t>
            </a:r>
            <a:endParaRPr lang="en-US" sz="2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026095-5AAF-F760-09C0-5448FFCAE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729" y="1508760"/>
            <a:ext cx="8504137" cy="479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2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CITIZEN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Personal dashboard — at a glance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914400" y="1463040"/>
            <a:ext cx="10360152" cy="4846320"/>
          </a:xfrm>
          <a:prstGeom prst="roundRect">
            <a:avLst>
              <a:gd name="adj" fmla="val 2264"/>
            </a:avLst>
          </a:prstGeom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9985B-BF43-AF45-F114-AEB8B190E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21" y="1318260"/>
            <a:ext cx="10489910" cy="5278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HOW IT WORKS — SUBMIT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</a:rPr>
              <a:t>4-step guided report submission</a:t>
            </a:r>
            <a:endParaRPr lang="en-US" sz="2800" dirty="0"/>
          </a:p>
        </p:txBody>
      </p:sp>
      <p:pic>
        <p:nvPicPr>
          <p:cNvPr id="4" name="Image 0" descr="C:\Users\mdimr\Desktop\Cluj ai devepolement\cluj-civic-ai\presentation\screenshots\report_n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417320"/>
            <a:ext cx="594360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417320"/>
            <a:ext cx="5943600" cy="4846320"/>
          </a:xfrm>
          <a:prstGeom prst="roundRect">
            <a:avLst>
              <a:gd name="adj" fmla="val 2264"/>
            </a:avLst>
          </a:prstGeom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583680" y="146304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60920" y="15727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Upload photo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60920" y="193852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Drag-drop or camera. Claude Vision analyses it instantly.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265176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208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60920" y="27614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Pin location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60920" y="312724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GPS auto-detects or click the map to place a pin.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384048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208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360920" y="39502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Review details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60920" y="431596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pre-fills type, severity &amp; summary — citizen can edit.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502920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2084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360920" y="51389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Submit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60920" y="550468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One tap. Report goes live in the government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CITIZEN EXPERIENCE — MY REPORTS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F5F9"/>
                </a:solidFill>
              </a:rPr>
              <a:t>Filter by status + category — track every report</a:t>
            </a:r>
            <a:endParaRPr lang="en-US" sz="2400" dirty="0"/>
          </a:p>
        </p:txBody>
      </p:sp>
      <p:pic>
        <p:nvPicPr>
          <p:cNvPr id="4" name="Image 0" descr="C:\Users\mdimr\Desktop\Cluj ai devepolement\cluj-civic-ai\presentation\screenshots\repo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463040"/>
            <a:ext cx="10360152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463040"/>
            <a:ext cx="10360152" cy="4846320"/>
          </a:xfrm>
          <a:prstGeom prst="roundRect">
            <a:avLst>
              <a:gd name="adj" fmla="val 2264"/>
            </a:avLst>
          </a:prstGeom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INTERACTIVE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All reports on the map — street &amp; satellite view</a:t>
            </a:r>
            <a:endParaRPr lang="en-US" sz="2600" dirty="0"/>
          </a:p>
        </p:txBody>
      </p:sp>
      <p:pic>
        <p:nvPicPr>
          <p:cNvPr id="4" name="Image 0" descr="C:\Users\mdimr\Desktop\Cluj ai devepolement\cluj-civic-ai\presentation\screenshots\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417320"/>
            <a:ext cx="749808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417320"/>
            <a:ext cx="7498080" cy="4846320"/>
          </a:xfrm>
          <a:prstGeom prst="roundRect">
            <a:avLst>
              <a:gd name="adj" fmla="val 2264"/>
            </a:avLst>
          </a:prstGeom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46720" y="1463040"/>
            <a:ext cx="429768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82396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GPS-pinned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23960" y="196596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Every report carries exact lat/lng coordinates.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46720" y="3063240"/>
            <a:ext cx="429768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8388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🛰️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82396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Satellite layer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23960" y="356616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Toggle between street map and Esri satellite imagery.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46720" y="4663440"/>
            <a:ext cx="429768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838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823960" y="4800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Severity colours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23960" y="516636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Markers coloured LOW→CRITICAL for instant triage.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GOVERNMENT PANEL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F5F9"/>
                </a:solidFill>
              </a:rPr>
              <a:t>Officers see everything — analytics, reports, actions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406640" y="1463040"/>
            <a:ext cx="466344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438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Charts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1965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Issue type bar chart + severity pie chart.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06640" y="3063240"/>
            <a:ext cx="466344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4380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0" y="3200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All reports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35661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Filter, sort, update status, log officer actions.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06640" y="4663440"/>
            <a:ext cx="466344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438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Status updates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0" y="51663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Each status change is visible to the citizen instantly.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45FEDE-0E82-18C8-DBF5-41FD082A9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737360"/>
            <a:ext cx="6592980" cy="3721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FD37D-6F23-38B6-1763-6DE90820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A366FD-B845-783D-1807-34A9503014FA}"/>
              </a:ext>
            </a:extLst>
          </p:cNvPr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GOVERNMENT PANEL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8BDF95-0239-B717-F21C-12358B29C80A}"/>
              </a:ext>
            </a:extLst>
          </p:cNvPr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F5F9"/>
                </a:solidFill>
              </a:rPr>
              <a:t>Officers see everything — analytics, reports, actions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E7E34B-6F83-3EFB-5581-59743133121B}"/>
              </a:ext>
            </a:extLst>
          </p:cNvPr>
          <p:cNvSpPr/>
          <p:nvPr/>
        </p:nvSpPr>
        <p:spPr>
          <a:xfrm>
            <a:off x="822960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1E3CF-49FC-3FBF-7CA6-4BA3229D3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542" y="1426030"/>
            <a:ext cx="10342526" cy="426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2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ED304-3D71-7348-FA3E-3424FC3EE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F3159B-4DED-E350-CB87-6F17961B4EE8}"/>
              </a:ext>
            </a:extLst>
          </p:cNvPr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GOVERNMENT PANEL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9C7404-8054-7EBA-E108-AF2D8D7021F1}"/>
              </a:ext>
            </a:extLst>
          </p:cNvPr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F5F9"/>
                </a:solidFill>
              </a:rPr>
              <a:t>Officers see everything — analytics, reports, actions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C81812D-546F-ECEE-54CA-5E0F485B8F6D}"/>
              </a:ext>
            </a:extLst>
          </p:cNvPr>
          <p:cNvSpPr/>
          <p:nvPr/>
        </p:nvSpPr>
        <p:spPr>
          <a:xfrm>
            <a:off x="822960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6F66B7-2EAE-7799-E0F9-5CAEA2EA7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418635"/>
            <a:ext cx="8055428" cy="531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34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THE AI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</a:rPr>
              <a:t>Powered by Claude Vision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A5FA"/>
                </a:solidFill>
              </a:rPr>
              <a:t>claude-sonnet-4-6 → structured JSON output → auto-filled 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69280" cy="3200400"/>
          </a:xfrm>
          <a:prstGeom prst="roundRect">
            <a:avLst>
              <a:gd name="adj" fmla="val 4286"/>
            </a:avLst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"issueType":     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"POTHOLE"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523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"severity":      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      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 pothole, risk of vehicle damage"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    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"additionalNotes":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"Temporary marking recommended"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2511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66928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7960" y="1947672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1965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12 Issue Types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225856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POTHOLE · BROKEN_ROAD · SIDEWALK_DAMAGE · GARBAGE · WATER_LEAKAGE · TRAFFIC_LIGHT_DAMAGE · and 6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880360"/>
            <a:ext cx="566928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37960" y="299923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30175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</a:rPr>
              <a:t>4 Severity Levels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31012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LOW cosmetic → MEDIUM weeks → HIGH hazard → CRITICAL same-day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931920"/>
            <a:ext cx="566928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37960" y="405079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40690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EFAC"/>
                </a:solidFill>
              </a:rPr>
              <a:t>Demo Fallback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36168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Hash-based deterministic scenarios ensure the app never breaks if AI is unavailable.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</a:rPr>
              <a:t>Production-grade full-stack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Next.js 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App Router + TypeScript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64408" y="164592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64408" y="17556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55848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Claude Sonnet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Vision AI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71616" y="164592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71616" y="17556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63056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NextAuth v5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63056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JWT Auth + Roles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78824" y="164592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78824" y="17556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70264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70264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Prisma ORM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9900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Cloudinary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675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Image Storage &amp; CDN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288036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64408" y="29900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55848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Leaflet + OSM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3675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Interactive Maps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71616" y="288036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71616" y="29900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163056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Recharts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63056" y="3675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Analytics Charts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78824" y="288036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878824" y="29900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970264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Nodemailer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70264" y="3675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Password Reset Emails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2245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Tailwind + shadcn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910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UI Components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64408" y="411480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64408" y="42245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355848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Zod + RHF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55848" y="4910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Validation &amp; Forms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71616" y="411480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71616" y="42245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163056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i18n Ready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63056" y="4910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Multi-language Support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78824" y="411480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878824" y="42245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970264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pm2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970264" y="4910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Persistent Server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</a:rPr>
              <a:t>Roadmap to a full city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5120640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276856" cy="27432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709928"/>
            <a:ext cx="2276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</a:rPr>
              <a:t>✅ Phase 1 — MVP (Done)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Citizen photo reporting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Claude Vision AI classification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035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Government 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5112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GPS maps (Street + Satellite)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986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Report editing &amp; deletion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462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Forgot password + email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Account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4132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Category &amp; status filtering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58887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Analytics charts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61688" y="1554480"/>
            <a:ext cx="3749040" cy="5120640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98848" y="16916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98848" y="170992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</a:rPr>
              <a:t>🔜 Phase 2 — Q3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44568" y="2084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Push / SMS notifications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44568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Mobile PWA (installable)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44568" y="3035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Duplicate report detection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44568" y="35112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Heat-map density view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44568" y="3986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Officer assignment &amp; teams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44568" y="4462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Public report feed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44568" y="4937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Multi-language (RO / HU / EN)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66176" y="1554480"/>
            <a:ext cx="3749040" cy="5120640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03336" y="1691640"/>
            <a:ext cx="1842516" cy="27432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03336" y="1709928"/>
            <a:ext cx="18425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EFAC"/>
                </a:solidFill>
              </a:rPr>
              <a:t>🚀 Phase 3 — 2027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49056" y="2084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Predictive maintenance AI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49056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Integration with Cluj City API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49056" y="3035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Resident satisfaction surveys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49056" y="35112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Budget allocation AI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49056" y="3986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Open data export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49056" y="4462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→ Multi-city rollout (Romania)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371600"/>
            <a:ext cx="3959352" cy="3959352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2286000" cy="2286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60A5FA"/>
                </a:solidFill>
              </a:rPr>
              <a:t>CLUJ AI BUILDATHON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1F5F9"/>
                </a:solidFill>
              </a:rPr>
              <a:t>Thank you! 🏙️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0A5FA"/>
                </a:solidFill>
              </a:rPr>
              <a:t>Let's build a smarter Cluj.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Cluj Civic AI proves that AI + civic tech can meaningfully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improve quality of life — one photo at a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3703320"/>
            <a:ext cx="2560320" cy="548640"/>
          </a:xfrm>
          <a:prstGeom prst="roundRect">
            <a:avLst>
              <a:gd name="adj" fmla="val 16667"/>
            </a:avLst>
          </a:prstGeom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🚀 Live Demo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37033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📸 Submit Report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37033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🗺️ View Map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0" y="443484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0" y="4956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Claude Sonnet 4.6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5239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Anthropic Vision 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443484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4956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Next.js 15 + TypeScript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5239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Production-ready 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0" y="443484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8096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0" y="4956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Open Infrastructure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52395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OpenStreetMap + OSS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misukkhanimran@gmail.com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883</Words>
  <Application>Microsoft Office PowerPoint</Application>
  <PresentationFormat>Widescreen</PresentationFormat>
  <Paragraphs>210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Imran Khan</cp:lastModifiedBy>
  <cp:revision>3</cp:revision>
  <dcterms:created xsi:type="dcterms:W3CDTF">2026-05-24T08:49:20Z</dcterms:created>
  <dcterms:modified xsi:type="dcterms:W3CDTF">2026-05-24T10:04:19Z</dcterms:modified>
</cp:coreProperties>
</file>